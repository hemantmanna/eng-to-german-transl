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59" r:id="rId4"/>
    <p:sldId id="258" r:id="rId5"/>
    <p:sldId id="264" r:id="rId6"/>
    <p:sldId id="268" r:id="rId7"/>
    <p:sldId id="270" r:id="rId8"/>
    <p:sldId id="267" r:id="rId9"/>
    <p:sldId id="265" r:id="rId10"/>
  </p:sldIdLst>
  <p:sldSz cx="18288000" cy="10287000"/>
  <p:notesSz cx="6858000" cy="9144000"/>
  <p:embeddedFontLst>
    <p:embeddedFont>
      <p:font typeface="Bernard MT Condensed" panose="02050806060905020404" pitchFamily="18" charset="0"/>
      <p:regular r:id="rId12"/>
    </p:embeddedFon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Britannic Bold" panose="020B0903060703020204" pitchFamily="34" charset="0"/>
      <p:regular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7122A-ABDD-4ABA-92FA-846E08AB936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E5069-D733-40BF-A8B2-C8F04BA91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96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E5069-D733-40BF-A8B2-C8F04BA91EF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8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838350" y="-780950"/>
            <a:ext cx="8229600" cy="11848901"/>
          </a:xfrm>
          <a:custGeom>
            <a:avLst/>
            <a:gdLst/>
            <a:ahLst/>
            <a:cxnLst/>
            <a:rect l="l" t="t" r="r" b="b"/>
            <a:pathLst>
              <a:path w="8229600" h="11848901">
                <a:moveTo>
                  <a:pt x="0" y="0"/>
                </a:moveTo>
                <a:lnTo>
                  <a:pt x="8229600" y="0"/>
                </a:lnTo>
                <a:lnTo>
                  <a:pt x="8229600" y="11848900"/>
                </a:lnTo>
                <a:lnTo>
                  <a:pt x="0" y="1184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31879" y="1693995"/>
            <a:ext cx="227421" cy="7564305"/>
            <a:chOff x="0" y="0"/>
            <a:chExt cx="59897" cy="19922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897" cy="1992245"/>
            </a:xfrm>
            <a:custGeom>
              <a:avLst/>
              <a:gdLst/>
              <a:ahLst/>
              <a:cxnLst/>
              <a:rect l="l" t="t" r="r" b="b"/>
              <a:pathLst>
                <a:path w="59897" h="1992245">
                  <a:moveTo>
                    <a:pt x="0" y="0"/>
                  </a:moveTo>
                  <a:lnTo>
                    <a:pt x="59897" y="0"/>
                  </a:lnTo>
                  <a:lnTo>
                    <a:pt x="59897" y="1992245"/>
                  </a:lnTo>
                  <a:lnTo>
                    <a:pt x="0" y="1992245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897" cy="2030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4950602" y="-508192"/>
            <a:ext cx="213020" cy="4404375"/>
            <a:chOff x="0" y="0"/>
            <a:chExt cx="56104" cy="116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104" cy="1160000"/>
            </a:xfrm>
            <a:custGeom>
              <a:avLst/>
              <a:gdLst/>
              <a:ahLst/>
              <a:cxnLst/>
              <a:rect l="l" t="t" r="r" b="b"/>
              <a:pathLst>
                <a:path w="56104" h="1160000">
                  <a:moveTo>
                    <a:pt x="0" y="0"/>
                  </a:moveTo>
                  <a:lnTo>
                    <a:pt x="56104" y="0"/>
                  </a:lnTo>
                  <a:lnTo>
                    <a:pt x="56104" y="1160000"/>
                  </a:lnTo>
                  <a:lnTo>
                    <a:pt x="0" y="11600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104" cy="119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429061" y="6428061"/>
            <a:ext cx="213020" cy="5447459"/>
            <a:chOff x="0" y="0"/>
            <a:chExt cx="56104" cy="1434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104" cy="1434722"/>
            </a:xfrm>
            <a:custGeom>
              <a:avLst/>
              <a:gdLst/>
              <a:ahLst/>
              <a:cxnLst/>
              <a:rect l="l" t="t" r="r" b="b"/>
              <a:pathLst>
                <a:path w="56104" h="1434722">
                  <a:moveTo>
                    <a:pt x="0" y="0"/>
                  </a:moveTo>
                  <a:lnTo>
                    <a:pt x="56104" y="0"/>
                  </a:lnTo>
                  <a:lnTo>
                    <a:pt x="56104" y="1434722"/>
                  </a:lnTo>
                  <a:lnTo>
                    <a:pt x="0" y="1434722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6104" cy="1472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52600" y="2779408"/>
            <a:ext cx="10691478" cy="32701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US" sz="9023" dirty="0">
                <a:solidFill>
                  <a:srgbClr val="5CE1E6"/>
                </a:solidFill>
                <a:latin typeface="Britannic Bold" panose="020B0903060703020204" pitchFamily="34" charset="0"/>
                <a:ea typeface="Cooper Hewitt Bold"/>
                <a:cs typeface="Cooper Hewitt Bold"/>
                <a:sym typeface="Cooper Hewitt Bold"/>
              </a:rPr>
              <a:t>ENGLISH TO GERMAN</a:t>
            </a:r>
          </a:p>
          <a:p>
            <a:pPr algn="ctr">
              <a:lnSpc>
                <a:spcPts val="8482"/>
              </a:lnSpc>
            </a:pPr>
            <a:r>
              <a:rPr lang="en-US" sz="9023" dirty="0">
                <a:solidFill>
                  <a:srgbClr val="5CE1E6"/>
                </a:solidFill>
                <a:latin typeface="Britannic Bold" panose="020B0903060703020204" pitchFamily="34" charset="0"/>
                <a:ea typeface="Cooper Hewitt Bold"/>
                <a:cs typeface="Cooper Hewitt Bold"/>
                <a:sym typeface="Cooper Hewitt Bold"/>
              </a:rPr>
              <a:t>SPEECH TRANSLATOR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549508" y="7001194"/>
            <a:ext cx="11305417" cy="0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2396888" y="7536142"/>
            <a:ext cx="9112525" cy="44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Subject - Microcontroller</a:t>
            </a: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AF3A1AB4-F32F-5FCD-EC05-6DE4858CC3EF}"/>
              </a:ext>
            </a:extLst>
          </p:cNvPr>
          <p:cNvGrpSpPr/>
          <p:nvPr/>
        </p:nvGrpSpPr>
        <p:grpSpPr>
          <a:xfrm rot="5400000">
            <a:off x="11594029" y="3622171"/>
            <a:ext cx="6698507" cy="3645169"/>
            <a:chOff x="0" y="0"/>
            <a:chExt cx="1019251" cy="564732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B1313D43-9B7D-AAB0-86FA-09DAA8A81E8B}"/>
                </a:ext>
              </a:extLst>
            </p:cNvPr>
            <p:cNvSpPr/>
            <p:nvPr/>
          </p:nvSpPr>
          <p:spPr>
            <a:xfrm>
              <a:off x="0" y="0"/>
              <a:ext cx="1019251" cy="564732"/>
            </a:xfrm>
            <a:custGeom>
              <a:avLst/>
              <a:gdLst/>
              <a:ahLst/>
              <a:cxnLst/>
              <a:rect l="l" t="t" r="r" b="b"/>
              <a:pathLst>
                <a:path w="1019251" h="564732">
                  <a:moveTo>
                    <a:pt x="0" y="0"/>
                  </a:moveTo>
                  <a:lnTo>
                    <a:pt x="1019251" y="0"/>
                  </a:lnTo>
                  <a:lnTo>
                    <a:pt x="1019251" y="564732"/>
                  </a:lnTo>
                  <a:lnTo>
                    <a:pt x="0" y="564732"/>
                  </a:lnTo>
                  <a:close/>
                </a:path>
              </a:pathLst>
            </a:custGeom>
            <a:blipFill>
              <a:blip r:embed="rId4"/>
              <a:stretch>
                <a:fillRect t="-10180" b="-1018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16288167" y="1851991"/>
            <a:ext cx="823772" cy="720801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49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424362" y="1512379"/>
            <a:ext cx="9439275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IN" sz="8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rnard MT Condensed" panose="02050806060905020404" pitchFamily="18" charset="0"/>
              </a:rPr>
              <a:t>Problem statement </a:t>
            </a:r>
            <a:endParaRPr lang="en-US" sz="8800" b="1" dirty="0">
              <a:solidFill>
                <a:schemeClr val="accent5">
                  <a:lumMod val="60000"/>
                  <a:lumOff val="40000"/>
                </a:schemeClr>
              </a:solidFill>
              <a:latin typeface="Bernard MT Condensed" panose="02050806060905020404" pitchFamily="18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00287" y="3122947"/>
            <a:ext cx="13725525" cy="404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GB" sz="36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From travellers to businesses, affordable speech translators bridge language gaps—choosing the right hardware and software stack is key to success!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endParaRPr lang="en-US" sz="36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Language barriers hinder </a:t>
            </a:r>
            <a:r>
              <a:rPr lang="en-GB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effective communication</a:t>
            </a: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in travel, business, and healthcare. This project solves this by building a low-cost, </a:t>
            </a:r>
            <a:r>
              <a:rPr lang="en-GB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ESP32-based translator </a:t>
            </a: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that converts spoken English to German in real-time using cloud APIs, balancing affordability and functionality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  <a:sym typeface="Poppins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A7CC4E98-A51C-FE98-C3C7-CF6B9F6999A4}"/>
              </a:ext>
            </a:extLst>
          </p:cNvPr>
          <p:cNvSpPr/>
          <p:nvPr/>
        </p:nvSpPr>
        <p:spPr>
          <a:xfrm flipV="1">
            <a:off x="4519961" y="2572383"/>
            <a:ext cx="9248076" cy="30038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273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81525" y="1808381"/>
            <a:ext cx="80772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IN" sz="8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rnard MT Condensed" panose="02050806060905020404" pitchFamily="18" charset="0"/>
              </a:rPr>
              <a:t>Project Overview: </a:t>
            </a:r>
            <a:endParaRPr lang="en-US" sz="8800" b="1" dirty="0">
              <a:solidFill>
                <a:schemeClr val="accent5">
                  <a:lumMod val="60000"/>
                  <a:lumOff val="40000"/>
                </a:schemeClr>
              </a:solidFill>
              <a:latin typeface="Bernard MT Condensed" panose="02050806060905020404" pitchFamily="18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35944" y="3347472"/>
            <a:ext cx="14654212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This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IoT-based English to German translator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uses an ESP32 microcontroller with </a:t>
            </a:r>
            <a:r>
              <a:rPr 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WiFi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connectivity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to create a web-based translation service. It features a local web server accessible through any browser, an OLED display for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real-time feedback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, and LED indicators for status updates. The system includes a comprehensive dictionary and can translate both single words and complete sentences. With physical controls and synchronized progress tracking, it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demonstrates practical embedded systems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and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web technology integration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for language translation applications.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  <a:sym typeface="Poppins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63069735-DD1F-ABD2-A4EF-914E8CF36095}"/>
              </a:ext>
            </a:extLst>
          </p:cNvPr>
          <p:cNvSpPr/>
          <p:nvPr/>
        </p:nvSpPr>
        <p:spPr>
          <a:xfrm>
            <a:off x="4241180" y="2878825"/>
            <a:ext cx="8757889" cy="39195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 flipV="1">
            <a:off x="4419600" y="1257300"/>
            <a:ext cx="8862984" cy="0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41506" y="115293"/>
            <a:ext cx="1709103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IN" sz="7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rnard MT Condensed" panose="02050806060905020404" pitchFamily="18" charset="0"/>
              </a:rPr>
              <a:t>Why ESP32?</a:t>
            </a:r>
            <a:endParaRPr lang="en-US" sz="7200" b="1" dirty="0">
              <a:solidFill>
                <a:schemeClr val="accent5">
                  <a:lumMod val="60000"/>
                  <a:lumOff val="40000"/>
                </a:schemeClr>
              </a:solidFill>
              <a:latin typeface="Bernard MT Condensed" panose="02050806060905020404" pitchFamily="18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01405-61C4-B929-59D5-EC5C5729E179}"/>
              </a:ext>
            </a:extLst>
          </p:cNvPr>
          <p:cNvSpPr txBox="1"/>
          <p:nvPr/>
        </p:nvSpPr>
        <p:spPr>
          <a:xfrm>
            <a:off x="1104900" y="1714500"/>
            <a:ext cx="16078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The </a:t>
            </a: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ESP32 (</a:t>
            </a:r>
            <a:r>
              <a:rPr lang="en-I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Espressif-32)</a:t>
            </a: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 </a:t>
            </a: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is a powerful, low-cost microcontroller that can work for a </a:t>
            </a: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cloud-dependent English-to-German </a:t>
            </a: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translator. Here’s why it’s a strong candidate compared to Arduino Uno or Raspberry Pi:</a:t>
            </a:r>
          </a:p>
          <a:p>
            <a:pPr algn="just"/>
            <a:endParaRPr lang="en-GB" sz="26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Built-in </a:t>
            </a:r>
            <a:r>
              <a:rPr lang="en-US" sz="2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WiFi</a:t>
            </a: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Connectivity</a:t>
            </a:r>
            <a:r>
              <a:rPr lang="en-US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: ESP32 has integrated </a:t>
            </a:r>
            <a:r>
              <a:rPr lang="en-US" sz="2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WiFi</a:t>
            </a:r>
            <a:r>
              <a:rPr lang="en-US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capabilities essential for hosting the web server and enabling wireless communication between users' devices and the translation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Dual-Core Processing Power: </a:t>
            </a:r>
            <a:r>
              <a:rPr lang="en-US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Its dual-core processor efficiently handles simultaneous tasks like web server management, OLED display updates, and translation processing without performance lag.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Rich Peripheral Support:</a:t>
            </a:r>
            <a:r>
              <a:rPr lang="en-US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ESP32 provides multiple GPIO pins to interface with the OLED display, LED indicators, and push button, while offering sufficient memory to store the extensive dictionary and web server code.</a:t>
            </a:r>
          </a:p>
          <a:p>
            <a:pPr algn="just"/>
            <a:r>
              <a:rPr lang="en-I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4. Low Power &amp; Cheap: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Great for battery-powered devices (unlike Raspberry Pi).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Costs efficient/affordable</a:t>
            </a:r>
          </a:p>
          <a:p>
            <a:pPr algn="just"/>
            <a:endParaRPr lang="en-IN" sz="26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IN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Best for </a:t>
            </a:r>
            <a:r>
              <a:rPr lang="en-IN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cloud dependent</a:t>
            </a:r>
            <a:r>
              <a:rPr lang="en-IN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translation.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0914" y="884039"/>
            <a:ext cx="16646172" cy="8551579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60854" y="1012372"/>
            <a:ext cx="7597751" cy="8406918"/>
            <a:chOff x="0" y="0"/>
            <a:chExt cx="10820400" cy="109728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820400" cy="10972800"/>
              <a:chOff x="0" y="0"/>
              <a:chExt cx="2137363" cy="216746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37363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2137363" h="2167467">
                    <a:moveTo>
                      <a:pt x="0" y="0"/>
                    </a:moveTo>
                    <a:lnTo>
                      <a:pt x="2137363" y="0"/>
                    </a:lnTo>
                    <a:lnTo>
                      <a:pt x="2137363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09550" cap="sq">
                <a:solidFill>
                  <a:srgbClr val="5CE1E6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137363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59680" y="578247"/>
              <a:ext cx="9701039" cy="9816305"/>
              <a:chOff x="0" y="0"/>
              <a:chExt cx="1127209" cy="114060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127209" cy="1140602"/>
              </a:xfrm>
              <a:custGeom>
                <a:avLst/>
                <a:gdLst/>
                <a:ahLst/>
                <a:cxnLst/>
                <a:rect l="l" t="t" r="r" b="b"/>
                <a:pathLst>
                  <a:path w="1127209" h="1140602">
                    <a:moveTo>
                      <a:pt x="0" y="0"/>
                    </a:moveTo>
                    <a:lnTo>
                      <a:pt x="1127209" y="0"/>
                    </a:lnTo>
                    <a:lnTo>
                      <a:pt x="1127209" y="1140602"/>
                    </a:lnTo>
                    <a:lnTo>
                      <a:pt x="0" y="1140602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25938" r="-25938"/>
                </a:stretch>
              </a:blipFill>
            </p:spPr>
          </p:sp>
        </p:grpSp>
      </p:grpSp>
      <p:sp>
        <p:nvSpPr>
          <p:cNvPr id="18" name="TextBox 13">
            <a:extLst>
              <a:ext uri="{FF2B5EF4-FFF2-40B4-BE49-F238E27FC236}">
                <a16:creationId xmlns:a16="http://schemas.microsoft.com/office/drawing/2014/main" id="{B57DDBC6-1730-6BB1-A6FE-40AE8006EA16}"/>
              </a:ext>
            </a:extLst>
          </p:cNvPr>
          <p:cNvSpPr txBox="1"/>
          <p:nvPr/>
        </p:nvSpPr>
        <p:spPr>
          <a:xfrm>
            <a:off x="9826456" y="1224460"/>
            <a:ext cx="6828727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US" sz="8800" dirty="0">
                <a:solidFill>
                  <a:srgbClr val="5CE1E6"/>
                </a:solidFill>
                <a:latin typeface="Bernard MT Condensed" panose="02050806060905020404" pitchFamily="18" charset="0"/>
                <a:ea typeface="Cooper Hewitt Bold"/>
                <a:cs typeface="Cooper Hewitt Bold"/>
                <a:sym typeface="Cooper Hewitt Bold"/>
              </a:rPr>
              <a:t>COMPONENTS USED :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5EB5C64-0330-ABD4-00EE-C4F75091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648751"/>
              </p:ext>
            </p:extLst>
          </p:nvPr>
        </p:nvGraphicFramePr>
        <p:xfrm>
          <a:off x="9067800" y="3185256"/>
          <a:ext cx="8399286" cy="6088261"/>
        </p:xfrm>
        <a:graphic>
          <a:graphicData uri="http://schemas.openxmlformats.org/drawingml/2006/table">
            <a:tbl>
              <a:tblPr/>
              <a:tblGrid>
                <a:gridCol w="8399286">
                  <a:extLst>
                    <a:ext uri="{9D8B030D-6E8A-4147-A177-3AD203B41FA5}">
                      <a16:colId xmlns:a16="http://schemas.microsoft.com/office/drawing/2014/main" val="1684178924"/>
                    </a:ext>
                  </a:extLst>
                </a:gridCol>
              </a:tblGrid>
              <a:tr h="6088261">
                <a:tc>
                  <a:txBody>
                    <a:bodyPr/>
                    <a:lstStyle/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ESP32 Dev Board </a:t>
                      </a:r>
                      <a:r>
                        <a:rPr lang="en-IN" sz="4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(Handles</a:t>
                      </a: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Wi-fi </a:t>
                      </a:r>
                      <a:r>
                        <a:rPr lang="en-IN" sz="4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and</a:t>
                      </a: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API </a:t>
                      </a:r>
                      <a:r>
                        <a:rPr lang="en-IN" sz="40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connections</a:t>
                      </a: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)            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US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OLED Display 0.96”/ 128x64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US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LEDS- Red, Yellow &amp; Green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US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Resistors </a:t>
                      </a:r>
                      <a:endParaRPr lang="en-IN" sz="40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Buttons / Keypad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Power supply (USB)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Zero board </a:t>
                      </a:r>
                    </a:p>
                    <a:p>
                      <a:pPr marL="571500" indent="-571500" algn="l">
                        <a:buFont typeface="+mj-lt"/>
                        <a:buAutoNum type="romanLcPeriod"/>
                      </a:pPr>
                      <a:r>
                        <a:rPr lang="en-IN" sz="4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Jumper wires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09818"/>
                  </a:ext>
                </a:extLst>
              </a:tr>
            </a:tbl>
          </a:graphicData>
        </a:graphic>
      </p:graphicFrame>
      <p:sp>
        <p:nvSpPr>
          <p:cNvPr id="20" name="AutoShape 10">
            <a:extLst>
              <a:ext uri="{FF2B5EF4-FFF2-40B4-BE49-F238E27FC236}">
                <a16:creationId xmlns:a16="http://schemas.microsoft.com/office/drawing/2014/main" id="{AF2C01AD-F41B-B3AA-7B54-A5408B697CF9}"/>
              </a:ext>
            </a:extLst>
          </p:cNvPr>
          <p:cNvSpPr/>
          <p:nvPr/>
        </p:nvSpPr>
        <p:spPr>
          <a:xfrm flipV="1">
            <a:off x="9826455" y="3330019"/>
            <a:ext cx="6828727" cy="17338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0914" y="884039"/>
            <a:ext cx="16646172" cy="8551579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B57DDBC6-1730-6BB1-A6FE-40AE8006EA16}"/>
              </a:ext>
            </a:extLst>
          </p:cNvPr>
          <p:cNvSpPr txBox="1"/>
          <p:nvPr/>
        </p:nvSpPr>
        <p:spPr>
          <a:xfrm>
            <a:off x="1285609" y="1224459"/>
            <a:ext cx="10229572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US" sz="8800" dirty="0">
                <a:solidFill>
                  <a:srgbClr val="5CE1E6"/>
                </a:solidFill>
                <a:latin typeface="Bernard MT Condensed" panose="02050806060905020404" pitchFamily="18" charset="0"/>
                <a:ea typeface="Cooper Hewitt Bold"/>
                <a:cs typeface="Cooper Hewitt Bold"/>
                <a:sym typeface="Cooper Hewitt Bold"/>
              </a:rPr>
              <a:t>Working: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5EB5C64-0330-ABD4-00EE-C4F750911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293516"/>
              </p:ext>
            </p:extLst>
          </p:nvPr>
        </p:nvGraphicFramePr>
        <p:xfrm>
          <a:off x="1143000" y="2247606"/>
          <a:ext cx="10372181" cy="6644640"/>
        </p:xfrm>
        <a:graphic>
          <a:graphicData uri="http://schemas.openxmlformats.org/drawingml/2006/table">
            <a:tbl>
              <a:tblPr/>
              <a:tblGrid>
                <a:gridCol w="10372181">
                  <a:extLst>
                    <a:ext uri="{9D8B030D-6E8A-4147-A177-3AD203B41FA5}">
                      <a16:colId xmlns:a16="http://schemas.microsoft.com/office/drawing/2014/main" val="1684178924"/>
                    </a:ext>
                  </a:extLst>
                </a:gridCol>
              </a:tblGrid>
              <a:tr h="6181798">
                <a:tc>
                  <a:txBody>
                    <a:bodyPr/>
                    <a:lstStyle/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User Input - 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User enters English text via web browser</a:t>
                      </a:r>
                    </a:p>
                    <a:p>
                      <a:r>
                        <a:rPr lang="en-US" sz="2600" kern="120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WiFi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Communication - ESP32 receives request through built-in web server.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2.  Text Processing 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- System processes input, prioritizing multi-word phrases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3.  Dictionary Lookup -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Matches words/phrases with German equivalents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4.  Progress Simulation -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Shows an animated translation progress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5.  Visual Feedback -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OLED displays status; LEDs indicate translation phase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6.  Output Delivery -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Returns German translation to web interface</a:t>
                      </a:r>
                    </a:p>
                    <a:p>
                      <a:r>
                        <a:rPr lang="en-US" sz="2600" b="1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7.  System Reset -</a:t>
                      </a:r>
                      <a:r>
                        <a:rPr lang="en-US" sz="2600" kern="12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 Physical button clears current translation for new input</a:t>
                      </a:r>
                    </a:p>
                    <a:p>
                      <a:pPr marL="0" indent="0" algn="l">
                        <a:buFont typeface="+mj-lt"/>
                        <a:buNone/>
                      </a:pPr>
                      <a:endParaRPr lang="en-IN" sz="4000" b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09818"/>
                  </a:ext>
                </a:extLst>
              </a:tr>
            </a:tbl>
          </a:graphicData>
        </a:graphic>
      </p:graphicFrame>
      <p:sp>
        <p:nvSpPr>
          <p:cNvPr id="20" name="AutoShape 10">
            <a:extLst>
              <a:ext uri="{FF2B5EF4-FFF2-40B4-BE49-F238E27FC236}">
                <a16:creationId xmlns:a16="http://schemas.microsoft.com/office/drawing/2014/main" id="{AF2C01AD-F41B-B3AA-7B54-A5408B697CF9}"/>
              </a:ext>
            </a:extLst>
          </p:cNvPr>
          <p:cNvSpPr/>
          <p:nvPr/>
        </p:nvSpPr>
        <p:spPr>
          <a:xfrm flipV="1">
            <a:off x="3124200" y="2256864"/>
            <a:ext cx="6832040" cy="0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61C2139E-6476-0F2D-9721-E706E0E6B58A}"/>
              </a:ext>
            </a:extLst>
          </p:cNvPr>
          <p:cNvGrpSpPr/>
          <p:nvPr/>
        </p:nvGrpSpPr>
        <p:grpSpPr>
          <a:xfrm>
            <a:off x="12402505" y="1224459"/>
            <a:ext cx="4666295" cy="7881441"/>
            <a:chOff x="0" y="0"/>
            <a:chExt cx="599875" cy="106831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5D61DB5-DDCD-4839-D154-7579487C2047}"/>
                </a:ext>
              </a:extLst>
            </p:cNvPr>
            <p:cNvSpPr/>
            <p:nvPr/>
          </p:nvSpPr>
          <p:spPr>
            <a:xfrm>
              <a:off x="0" y="0"/>
              <a:ext cx="599875" cy="1068310"/>
            </a:xfrm>
            <a:custGeom>
              <a:avLst/>
              <a:gdLst/>
              <a:ahLst/>
              <a:cxnLst/>
              <a:rect l="l" t="t" r="r" b="b"/>
              <a:pathLst>
                <a:path w="599875" h="1068310">
                  <a:moveTo>
                    <a:pt x="0" y="0"/>
                  </a:moveTo>
                  <a:lnTo>
                    <a:pt x="599875" y="0"/>
                  </a:lnTo>
                  <a:lnTo>
                    <a:pt x="599875" y="1068310"/>
                  </a:lnTo>
                  <a:lnTo>
                    <a:pt x="0" y="1068310"/>
                  </a:lnTo>
                  <a:close/>
                </a:path>
              </a:pathLst>
            </a:custGeom>
            <a:blipFill>
              <a:blip r:embed="rId4"/>
              <a:stretch>
                <a:fillRect l="-83650" r="-83650"/>
              </a:stretch>
            </a:blipFill>
          </p:spPr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D749B94-8598-2EB6-DCA8-295FFB9F90D1}"/>
              </a:ext>
            </a:extLst>
          </p:cNvPr>
          <p:cNvSpPr/>
          <p:nvPr/>
        </p:nvSpPr>
        <p:spPr>
          <a:xfrm>
            <a:off x="12115800" y="1028700"/>
            <a:ext cx="5181599" cy="8259786"/>
          </a:xfrm>
          <a:prstGeom prst="rect">
            <a:avLst/>
          </a:prstGeom>
          <a:noFill/>
          <a:ln w="241300">
            <a:solidFill>
              <a:srgbClr val="5CE1E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66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869531" y="1469569"/>
            <a:ext cx="10587038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IN" sz="8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rnard MT Condensed" panose="02050806060905020404" pitchFamily="18" charset="0"/>
              </a:rPr>
              <a:t>Real world applications </a:t>
            </a:r>
            <a:endParaRPr lang="en-US" sz="8800" b="1" dirty="0">
              <a:solidFill>
                <a:schemeClr val="accent5">
                  <a:lumMod val="60000"/>
                  <a:lumOff val="40000"/>
                </a:schemeClr>
              </a:solidFill>
              <a:latin typeface="Bernard MT Condensed" panose="02050806060905020404" pitchFamily="18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47800" y="2705100"/>
            <a:ext cx="1539240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Travel &amp; Tourism-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 Case: Helps tourists communicate in German-speaking countries.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Example: Asking for directions, ordering food, or checking into hotels.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Language Learning-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 Case: Assists students in practicing German pronunciation.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Example: Repeating phrases and getting instant feedback.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Healthcare-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 Case: Aids doctors/nurses in multilingual patient interactions.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Example: Translating symptoms or medical instructions.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Emergency Situations-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 Case: Quick translation for </a:t>
            </a:r>
            <a:r>
              <a:rPr lang="en-GB" sz="2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travelers</a:t>
            </a: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in distress.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Example: Explaining emergencies to local authorities.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Smart Homes &amp; IoT-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sz="26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Use Case: Voice-controlled multilingual assistants.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86377A31-F085-9FE4-5482-011B871E5818}"/>
              </a:ext>
            </a:extLst>
          </p:cNvPr>
          <p:cNvSpPr/>
          <p:nvPr/>
        </p:nvSpPr>
        <p:spPr>
          <a:xfrm>
            <a:off x="3011729" y="2531915"/>
            <a:ext cx="12264541" cy="55392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877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75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17320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05400" y="1791477"/>
            <a:ext cx="80772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IN" sz="8800" dirty="0">
                <a:solidFill>
                  <a:schemeClr val="accent5">
                    <a:lumMod val="60000"/>
                    <a:lumOff val="40000"/>
                  </a:schemeClr>
                </a:solidFill>
                <a:latin typeface="Bernard MT Condensed" panose="02050806060905020404" pitchFamily="18" charset="0"/>
              </a:rPr>
              <a:t>Conclusion </a:t>
            </a:r>
            <a:endParaRPr lang="en-US" sz="8800" b="1" dirty="0">
              <a:solidFill>
                <a:schemeClr val="accent5">
                  <a:lumMod val="60000"/>
                  <a:lumOff val="40000"/>
                </a:schemeClr>
              </a:solidFill>
              <a:latin typeface="Bernard MT Condensed" panose="02050806060905020404" pitchFamily="18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66912" y="3323538"/>
            <a:ext cx="14392275" cy="3141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This project demonstrates the feasibility of building a </a:t>
            </a:r>
            <a:r>
              <a:rPr lang="en-GB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real-time English-to-German speech translator </a:t>
            </a: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using microcontroller platforms, highlighting key trade-offs between performance, </a:t>
            </a:r>
            <a:r>
              <a:rPr lang="en-GB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cost, and functionality</a:t>
            </a:r>
            <a:r>
              <a:rPr lang="en-GB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 the ESP32 offers a budget-friendly, cloud-dependent solution with Wi-Fi connectivity. Cloud APIs provide high accuracy and natural-sounding voices but introduce latency, cost, and privacy considerations.</a:t>
            </a:r>
            <a:endParaRPr lang="en-US" sz="3200" dirty="0">
              <a:solidFill>
                <a:schemeClr val="accent5">
                  <a:lumMod val="60000"/>
                  <a:lumOff val="40000"/>
                </a:schemeClr>
              </a:solidFill>
              <a:latin typeface="Bookman Old Style" panose="02050604050505020204" pitchFamily="18" charset="0"/>
              <a:sym typeface="Poppins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028AAD63-42F8-FCCE-A5B3-94D2C2EB6B2C}"/>
              </a:ext>
            </a:extLst>
          </p:cNvPr>
          <p:cNvSpPr/>
          <p:nvPr/>
        </p:nvSpPr>
        <p:spPr>
          <a:xfrm flipV="1">
            <a:off x="5855398" y="2781299"/>
            <a:ext cx="6870002" cy="17337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744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C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2838350" y="-780950"/>
            <a:ext cx="8229600" cy="11848901"/>
          </a:xfrm>
          <a:custGeom>
            <a:avLst/>
            <a:gdLst/>
            <a:ahLst/>
            <a:cxnLst/>
            <a:rect l="l" t="t" r="r" b="b"/>
            <a:pathLst>
              <a:path w="8229600" h="11848901">
                <a:moveTo>
                  <a:pt x="0" y="0"/>
                </a:moveTo>
                <a:lnTo>
                  <a:pt x="8229600" y="0"/>
                </a:lnTo>
                <a:lnTo>
                  <a:pt x="8229600" y="11848900"/>
                </a:lnTo>
                <a:lnTo>
                  <a:pt x="0" y="1184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031879" y="1693995"/>
            <a:ext cx="227421" cy="7564305"/>
            <a:chOff x="0" y="0"/>
            <a:chExt cx="59897" cy="19922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897" cy="1992245"/>
            </a:xfrm>
            <a:custGeom>
              <a:avLst/>
              <a:gdLst/>
              <a:ahLst/>
              <a:cxnLst/>
              <a:rect l="l" t="t" r="r" b="b"/>
              <a:pathLst>
                <a:path w="59897" h="1992245">
                  <a:moveTo>
                    <a:pt x="0" y="0"/>
                  </a:moveTo>
                  <a:lnTo>
                    <a:pt x="59897" y="0"/>
                  </a:lnTo>
                  <a:lnTo>
                    <a:pt x="59897" y="1992245"/>
                  </a:lnTo>
                  <a:lnTo>
                    <a:pt x="0" y="1992245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897" cy="2030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4950602" y="-508192"/>
            <a:ext cx="213020" cy="4404375"/>
            <a:chOff x="0" y="0"/>
            <a:chExt cx="56104" cy="116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104" cy="1160000"/>
            </a:xfrm>
            <a:custGeom>
              <a:avLst/>
              <a:gdLst/>
              <a:ahLst/>
              <a:cxnLst/>
              <a:rect l="l" t="t" r="r" b="b"/>
              <a:pathLst>
                <a:path w="56104" h="1160000">
                  <a:moveTo>
                    <a:pt x="0" y="0"/>
                  </a:moveTo>
                  <a:lnTo>
                    <a:pt x="56104" y="0"/>
                  </a:lnTo>
                  <a:lnTo>
                    <a:pt x="56104" y="1160000"/>
                  </a:lnTo>
                  <a:lnTo>
                    <a:pt x="0" y="11600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104" cy="119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429061" y="6428061"/>
            <a:ext cx="213020" cy="5447459"/>
            <a:chOff x="0" y="0"/>
            <a:chExt cx="56104" cy="1434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104" cy="1434722"/>
            </a:xfrm>
            <a:custGeom>
              <a:avLst/>
              <a:gdLst/>
              <a:ahLst/>
              <a:cxnLst/>
              <a:rect l="l" t="t" r="r" b="b"/>
              <a:pathLst>
                <a:path w="56104" h="1434722">
                  <a:moveTo>
                    <a:pt x="0" y="0"/>
                  </a:moveTo>
                  <a:lnTo>
                    <a:pt x="56104" y="0"/>
                  </a:lnTo>
                  <a:lnTo>
                    <a:pt x="56104" y="1434722"/>
                  </a:lnTo>
                  <a:lnTo>
                    <a:pt x="0" y="1434722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6104" cy="1472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41630" y="1952244"/>
            <a:ext cx="3872005" cy="6895608"/>
            <a:chOff x="0" y="0"/>
            <a:chExt cx="599875" cy="10683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875" cy="1068310"/>
            </a:xfrm>
            <a:custGeom>
              <a:avLst/>
              <a:gdLst/>
              <a:ahLst/>
              <a:cxnLst/>
              <a:rect l="l" t="t" r="r" b="b"/>
              <a:pathLst>
                <a:path w="599875" h="1068310">
                  <a:moveTo>
                    <a:pt x="0" y="0"/>
                  </a:moveTo>
                  <a:lnTo>
                    <a:pt x="599875" y="0"/>
                  </a:lnTo>
                  <a:lnTo>
                    <a:pt x="599875" y="1068310"/>
                  </a:lnTo>
                  <a:lnTo>
                    <a:pt x="0" y="1068310"/>
                  </a:lnTo>
                  <a:close/>
                </a:path>
              </a:pathLst>
            </a:custGeom>
            <a:blipFill>
              <a:blip r:embed="rId4"/>
              <a:stretch>
                <a:fillRect l="-80707" r="-8070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16288167" y="1851991"/>
            <a:ext cx="823772" cy="720801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549508" y="7001194"/>
            <a:ext cx="11305417" cy="0"/>
          </a:xfrm>
          <a:prstGeom prst="line">
            <a:avLst/>
          </a:prstGeom>
          <a:ln w="19050" cap="flat">
            <a:solidFill>
              <a:srgbClr val="5CE1E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2699315" y="4175118"/>
            <a:ext cx="8507669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2"/>
              </a:lnSpc>
            </a:pPr>
            <a:r>
              <a:rPr lang="en-US" sz="9600" b="1" dirty="0">
                <a:solidFill>
                  <a:srgbClr val="5CE1E6"/>
                </a:solidFill>
                <a:latin typeface="Britannic Bold" panose="020B0903060703020204" pitchFamily="34" charset="0"/>
                <a:ea typeface="Cooper Hewitt Bold"/>
                <a:cs typeface="Cooper Hewitt Bold"/>
                <a:sym typeface="Cooper Hewitt Bold"/>
              </a:rPr>
              <a:t>THANKYOU!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610</Words>
  <Application>Microsoft Office PowerPoint</Application>
  <PresentationFormat>Custom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Courier New</vt:lpstr>
      <vt:lpstr>Bookman Old Style</vt:lpstr>
      <vt:lpstr>Poppins</vt:lpstr>
      <vt:lpstr>Calibri</vt:lpstr>
      <vt:lpstr>Britannic Bold</vt:lpstr>
      <vt:lpstr>Arial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Modern Computer E-Course Presentation</dc:title>
  <dc:creator>Y Dicholkar</dc:creator>
  <cp:lastModifiedBy>Tanvi Maurya</cp:lastModifiedBy>
  <cp:revision>25</cp:revision>
  <dcterms:created xsi:type="dcterms:W3CDTF">2006-08-16T00:00:00Z</dcterms:created>
  <dcterms:modified xsi:type="dcterms:W3CDTF">2025-11-11T15:54:25Z</dcterms:modified>
  <dc:identifier>DAGtcisFFck</dc:identifier>
</cp:coreProperties>
</file>